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handoutMasterIdLst>
    <p:handoutMasterId r:id="rId20"/>
  </p:handoutMasterIdLst>
  <p:sldIdLst>
    <p:sldId id="256" r:id="rId5"/>
    <p:sldId id="261" r:id="rId6"/>
    <p:sldId id="286" r:id="rId7"/>
    <p:sldId id="287" r:id="rId8"/>
    <p:sldId id="288" r:id="rId9"/>
    <p:sldId id="289" r:id="rId10"/>
    <p:sldId id="291" r:id="rId11"/>
    <p:sldId id="292" r:id="rId12"/>
    <p:sldId id="293" r:id="rId13"/>
    <p:sldId id="294" r:id="rId14"/>
    <p:sldId id="295" r:id="rId15"/>
    <p:sldId id="296" r:id="rId16"/>
    <p:sldId id="297" r:id="rId17"/>
    <p:sldId id="26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70857FC-BDEC-4D30-BA5B-DB30C863E3F8}">
          <p14:sldIdLst>
            <p14:sldId id="256"/>
            <p14:sldId id="261"/>
            <p14:sldId id="286"/>
            <p14:sldId id="287"/>
            <p14:sldId id="288"/>
            <p14:sldId id="289"/>
            <p14:sldId id="291"/>
            <p14:sldId id="292"/>
            <p14:sldId id="293"/>
            <p14:sldId id="294"/>
            <p14:sldId id="295"/>
            <p14:sldId id="296"/>
            <p14:sldId id="297"/>
            <p14:sldId id="26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30" autoAdjust="0"/>
    <p:restoredTop sz="94660"/>
  </p:normalViewPr>
  <p:slideViewPr>
    <p:cSldViewPr snapToGrid="0">
      <p:cViewPr varScale="1">
        <p:scale>
          <a:sx n="82" d="100"/>
          <a:sy n="82" d="100"/>
        </p:scale>
        <p:origin x="490" y="72"/>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11/19/2025</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11/19/2025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sz="3000" dirty="0"/>
              <a:t>Walmart Sales Dashboard – Kaggle Dataset</a:t>
            </a:r>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p:txBody>
          <a:bodyPr/>
          <a:lstStyle/>
          <a:p>
            <a:pPr marL="0" indent="0">
              <a:buNone/>
            </a:pPr>
            <a:r>
              <a:rPr lang="en-US" dirty="0"/>
              <a:t>Interactive dashboard using Power BI</a:t>
            </a: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IN" dirty="0"/>
              <a:t>Dataset Overview</a:t>
            </a:r>
            <a:endParaRPr lang="en-US" dirty="0"/>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
        <p:nvSpPr>
          <p:cNvPr id="7" name="Text Placeholder 6">
            <a:extLst>
              <a:ext uri="{FF2B5EF4-FFF2-40B4-BE49-F238E27FC236}">
                <a16:creationId xmlns:a16="http://schemas.microsoft.com/office/drawing/2014/main" id="{B74126B4-1E6C-4FFF-9282-40E18A85A07F}"/>
              </a:ext>
            </a:extLst>
          </p:cNvPr>
          <p:cNvSpPr>
            <a:spLocks noGrp="1"/>
          </p:cNvSpPr>
          <p:nvPr>
            <p:ph type="body" sz="quarter" idx="1"/>
          </p:nvPr>
        </p:nvSpPr>
        <p:spPr>
          <a:xfrm>
            <a:off x="444500" y="1203868"/>
            <a:ext cx="11214100" cy="535531"/>
          </a:xfrm>
        </p:spPr>
        <p:txBody>
          <a:bodyPr numCol="1">
            <a:normAutofit/>
          </a:bodyPr>
          <a:lstStyle/>
          <a:p>
            <a:r>
              <a:rPr lang="en-IN" dirty="0"/>
              <a:t> Dataset Description</a:t>
            </a:r>
            <a:endParaRPr lang="en-US" dirty="0"/>
          </a:p>
        </p:txBody>
      </p:sp>
      <p:sp>
        <p:nvSpPr>
          <p:cNvPr id="8" name="Text Placeholder 7">
            <a:extLst>
              <a:ext uri="{FF2B5EF4-FFF2-40B4-BE49-F238E27FC236}">
                <a16:creationId xmlns:a16="http://schemas.microsoft.com/office/drawing/2014/main" id="{47DC4E62-1A34-4F98-A451-214F1808519C}"/>
              </a:ext>
            </a:extLst>
          </p:cNvPr>
          <p:cNvSpPr>
            <a:spLocks noGrp="1"/>
          </p:cNvSpPr>
          <p:nvPr>
            <p:ph type="body" sz="quarter" idx="2"/>
          </p:nvPr>
        </p:nvSpPr>
        <p:spPr>
          <a:xfrm>
            <a:off x="444500" y="1635760"/>
            <a:ext cx="10976169" cy="4553903"/>
          </a:xfrm>
        </p:spPr>
        <p:txBody>
          <a:bodyPr>
            <a:normAutofit fontScale="70000" lnSpcReduction="20000"/>
          </a:bodyPr>
          <a:lstStyle/>
          <a:p>
            <a:pPr marL="0" indent="0">
              <a:lnSpc>
                <a:spcPct val="120000"/>
              </a:lnSpc>
              <a:buNone/>
            </a:pPr>
            <a:r>
              <a:rPr lang="en-IN" sz="2300" b="1" dirty="0"/>
              <a:t>Content:</a:t>
            </a:r>
          </a:p>
          <a:p>
            <a:pPr marL="0" indent="0">
              <a:lnSpc>
                <a:spcPct val="120000"/>
              </a:lnSpc>
              <a:buNone/>
            </a:pPr>
            <a:r>
              <a:rPr lang="en-IN" sz="2000" b="1" dirty="0"/>
              <a:t>Data source</a:t>
            </a:r>
            <a:r>
              <a:rPr lang="en-IN" b="1" dirty="0"/>
              <a:t>: </a:t>
            </a:r>
            <a:r>
              <a:rPr lang="en-IN" dirty="0"/>
              <a:t>Walmart Sales Dataset (Kaggle)</a:t>
            </a:r>
          </a:p>
          <a:p>
            <a:pPr marL="0" indent="0">
              <a:lnSpc>
                <a:spcPct val="120000"/>
              </a:lnSpc>
              <a:buNone/>
            </a:pPr>
            <a:r>
              <a:rPr lang="en-IN" sz="2000" b="1" dirty="0"/>
              <a:t>Time period</a:t>
            </a:r>
            <a:r>
              <a:rPr lang="en-IN" b="1" dirty="0"/>
              <a:t>: 2010 to 2012</a:t>
            </a:r>
            <a:endParaRPr lang="en-IN" dirty="0"/>
          </a:p>
          <a:p>
            <a:pPr marL="0" indent="0">
              <a:lnSpc>
                <a:spcPct val="120000"/>
              </a:lnSpc>
              <a:buNone/>
            </a:pPr>
            <a:r>
              <a:rPr lang="en-IN" sz="2100" b="1" dirty="0"/>
              <a:t>Total columns used:</a:t>
            </a:r>
          </a:p>
          <a:p>
            <a:pPr marL="742950" lvl="1" indent="-285750">
              <a:lnSpc>
                <a:spcPct val="120000"/>
              </a:lnSpc>
              <a:buFont typeface="Arial" panose="020B0604020202020204" pitchFamily="34" charset="0"/>
              <a:buChar char="•"/>
            </a:pPr>
            <a:r>
              <a:rPr lang="en-IN" sz="1800" dirty="0"/>
              <a:t>Store</a:t>
            </a:r>
          </a:p>
          <a:p>
            <a:pPr marL="742950" lvl="1" indent="-285750">
              <a:lnSpc>
                <a:spcPct val="120000"/>
              </a:lnSpc>
              <a:buFont typeface="Arial" panose="020B0604020202020204" pitchFamily="34" charset="0"/>
              <a:buChar char="•"/>
            </a:pPr>
            <a:r>
              <a:rPr lang="en-IN" sz="1800" dirty="0"/>
              <a:t>Date</a:t>
            </a:r>
          </a:p>
          <a:p>
            <a:pPr marL="742950" lvl="1" indent="-285750">
              <a:lnSpc>
                <a:spcPct val="120000"/>
              </a:lnSpc>
              <a:buFont typeface="Arial" panose="020B0604020202020204" pitchFamily="34" charset="0"/>
              <a:buChar char="•"/>
            </a:pPr>
            <a:r>
              <a:rPr lang="en-IN" sz="1800" dirty="0" err="1"/>
              <a:t>Weekly_Sales</a:t>
            </a:r>
            <a:endParaRPr lang="en-IN" sz="1800" dirty="0"/>
          </a:p>
          <a:p>
            <a:pPr marL="742950" lvl="1" indent="-285750">
              <a:lnSpc>
                <a:spcPct val="120000"/>
              </a:lnSpc>
              <a:buFont typeface="Arial" panose="020B0604020202020204" pitchFamily="34" charset="0"/>
              <a:buChar char="•"/>
            </a:pPr>
            <a:r>
              <a:rPr lang="en-IN" sz="1800" dirty="0" err="1"/>
              <a:t>Holiday_Flag</a:t>
            </a:r>
            <a:endParaRPr lang="en-IN" sz="1800" dirty="0"/>
          </a:p>
          <a:p>
            <a:pPr marL="742950" lvl="1" indent="-285750">
              <a:lnSpc>
                <a:spcPct val="120000"/>
              </a:lnSpc>
              <a:buFont typeface="Arial" panose="020B0604020202020204" pitchFamily="34" charset="0"/>
              <a:buChar char="•"/>
            </a:pPr>
            <a:r>
              <a:rPr lang="en-IN" sz="1800" dirty="0"/>
              <a:t>Temperature</a:t>
            </a:r>
          </a:p>
          <a:p>
            <a:pPr marL="742950" lvl="1" indent="-285750">
              <a:lnSpc>
                <a:spcPct val="120000"/>
              </a:lnSpc>
              <a:buFont typeface="Arial" panose="020B0604020202020204" pitchFamily="34" charset="0"/>
              <a:buChar char="•"/>
            </a:pPr>
            <a:r>
              <a:rPr lang="en-IN" sz="1800" dirty="0" err="1"/>
              <a:t>Fuel_Price</a:t>
            </a:r>
            <a:endParaRPr lang="en-IN" sz="1800" dirty="0"/>
          </a:p>
          <a:p>
            <a:pPr marL="742950" lvl="1" indent="-285750">
              <a:lnSpc>
                <a:spcPct val="120000"/>
              </a:lnSpc>
              <a:buFont typeface="Arial" panose="020B0604020202020204" pitchFamily="34" charset="0"/>
              <a:buChar char="•"/>
            </a:pPr>
            <a:r>
              <a:rPr lang="en-IN" sz="1800" dirty="0"/>
              <a:t>CPI</a:t>
            </a:r>
          </a:p>
          <a:p>
            <a:pPr marL="742950" lvl="1" indent="-285750">
              <a:lnSpc>
                <a:spcPct val="120000"/>
              </a:lnSpc>
              <a:buFont typeface="Arial" panose="020B0604020202020204" pitchFamily="34" charset="0"/>
              <a:buChar char="•"/>
            </a:pPr>
            <a:r>
              <a:rPr lang="en-IN" sz="1800" dirty="0"/>
              <a:t>Unemployment</a:t>
            </a:r>
          </a:p>
          <a:p>
            <a:pPr marL="0" indent="0">
              <a:lnSpc>
                <a:spcPct val="120000"/>
              </a:lnSpc>
              <a:buNone/>
            </a:pPr>
            <a:r>
              <a:rPr lang="en-IN" sz="2100" b="1" dirty="0"/>
              <a:t>Purpose of dataset:</a:t>
            </a:r>
          </a:p>
          <a:p>
            <a:pPr marL="742950" lvl="1" indent="-285750">
              <a:lnSpc>
                <a:spcPct val="120000"/>
              </a:lnSpc>
              <a:buFont typeface="Arial" panose="020B0604020202020204" pitchFamily="34" charset="0"/>
              <a:buChar char="•"/>
            </a:pPr>
            <a:r>
              <a:rPr lang="en-IN" sz="1800" dirty="0" err="1"/>
              <a:t>Analyze</a:t>
            </a:r>
            <a:r>
              <a:rPr lang="en-IN" sz="1800" dirty="0"/>
              <a:t> store performance</a:t>
            </a:r>
          </a:p>
          <a:p>
            <a:pPr marL="742950" lvl="1" indent="-285750">
              <a:lnSpc>
                <a:spcPct val="120000"/>
              </a:lnSpc>
              <a:buFont typeface="Arial" panose="020B0604020202020204" pitchFamily="34" charset="0"/>
              <a:buChar char="•"/>
            </a:pPr>
            <a:r>
              <a:rPr lang="en-IN" sz="1800" dirty="0"/>
              <a:t>Study effect of holidays, temperature, fuel price, economic indicators on sales</a:t>
            </a:r>
          </a:p>
          <a:p>
            <a:pPr marL="0" indent="0">
              <a:buNone/>
            </a:pPr>
            <a:endParaRPr lang="en-IN" dirty="0"/>
          </a:p>
          <a:p>
            <a:pPr marL="0" indent="0">
              <a:buNone/>
            </a:pPr>
            <a:endParaRPr lang="en-US" dirty="0"/>
          </a:p>
          <a:p>
            <a:endParaRPr lang="en-US" dirty="0"/>
          </a:p>
        </p:txBody>
      </p:sp>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3DC82-7E96-40A5-8DA8-835CFAAFEC38}"/>
              </a:ext>
            </a:extLst>
          </p:cNvPr>
          <p:cNvSpPr>
            <a:spLocks noGrp="1"/>
          </p:cNvSpPr>
          <p:nvPr>
            <p:ph type="title"/>
          </p:nvPr>
        </p:nvSpPr>
        <p:spPr/>
        <p:txBody>
          <a:bodyPr/>
          <a:lstStyle/>
          <a:p>
            <a:pPr algn="ctr"/>
            <a:r>
              <a:rPr lang="en-IN" dirty="0"/>
              <a:t>Project Objective &amp; Key Metrics</a:t>
            </a:r>
          </a:p>
        </p:txBody>
      </p:sp>
      <p:sp>
        <p:nvSpPr>
          <p:cNvPr id="3" name="Slide Number Placeholder 2">
            <a:extLst>
              <a:ext uri="{FF2B5EF4-FFF2-40B4-BE49-F238E27FC236}">
                <a16:creationId xmlns:a16="http://schemas.microsoft.com/office/drawing/2014/main" id="{A2B19679-1690-C607-19E4-4F8AF38FFAB5}"/>
              </a:ext>
            </a:extLst>
          </p:cNvPr>
          <p:cNvSpPr>
            <a:spLocks noGrp="1"/>
          </p:cNvSpPr>
          <p:nvPr>
            <p:ph type="sldNum" sz="quarter" idx="12"/>
          </p:nvPr>
        </p:nvSpPr>
        <p:spPr/>
        <p:txBody>
          <a:bodyPr/>
          <a:lstStyle/>
          <a:p>
            <a:fld id="{C263D6C4-4840-40CC-AC84-17E24B3B7BDE}" type="slidenum">
              <a:rPr lang="en-US" noProof="0" smtClean="0"/>
              <a:pPr/>
              <a:t>3</a:t>
            </a:fld>
            <a:endParaRPr lang="en-US" noProof="0" dirty="0"/>
          </a:p>
        </p:txBody>
      </p:sp>
      <p:sp>
        <p:nvSpPr>
          <p:cNvPr id="4" name="Text Placeholder 3">
            <a:extLst>
              <a:ext uri="{FF2B5EF4-FFF2-40B4-BE49-F238E27FC236}">
                <a16:creationId xmlns:a16="http://schemas.microsoft.com/office/drawing/2014/main" id="{85C287CD-ABAD-B83E-6910-36D4C4757AFD}"/>
              </a:ext>
            </a:extLst>
          </p:cNvPr>
          <p:cNvSpPr>
            <a:spLocks noGrp="1"/>
          </p:cNvSpPr>
          <p:nvPr>
            <p:ph type="body" sz="quarter" idx="13"/>
          </p:nvPr>
        </p:nvSpPr>
        <p:spPr>
          <a:xfrm>
            <a:off x="444500" y="1625385"/>
            <a:ext cx="6718300" cy="4689690"/>
          </a:xfrm>
        </p:spPr>
        <p:txBody>
          <a:bodyPr/>
          <a:lstStyle/>
          <a:p>
            <a:pPr marL="0" indent="0">
              <a:buNone/>
            </a:pPr>
            <a:r>
              <a:rPr lang="en-US" b="1" dirty="0"/>
              <a:t>Objective:</a:t>
            </a:r>
          </a:p>
          <a:p>
            <a:r>
              <a:rPr lang="en-US" dirty="0"/>
              <a:t>To design an interactive dashboard providing insights into Walmart sales trends, store performance, and key influencing factors.</a:t>
            </a:r>
          </a:p>
          <a:p>
            <a:pPr marL="0" indent="0">
              <a:buNone/>
            </a:pPr>
            <a:endParaRPr lang="en-US" dirty="0"/>
          </a:p>
          <a:p>
            <a:pPr marL="0" indent="0">
              <a:buNone/>
            </a:pPr>
            <a:r>
              <a:rPr lang="en-US" b="1" dirty="0"/>
              <a:t>KPIs Created:</a:t>
            </a:r>
          </a:p>
          <a:p>
            <a:pPr>
              <a:buFont typeface="Arial" panose="020B0604020202020204" pitchFamily="34" charset="0"/>
              <a:buChar char="•"/>
            </a:pPr>
            <a:r>
              <a:rPr lang="en-US" dirty="0"/>
              <a:t>Total Weekly Sales</a:t>
            </a:r>
          </a:p>
          <a:p>
            <a:pPr>
              <a:buFont typeface="Arial" panose="020B0604020202020204" pitchFamily="34" charset="0"/>
              <a:buChar char="•"/>
            </a:pPr>
            <a:r>
              <a:rPr lang="en-US" dirty="0"/>
              <a:t>Highest Sales Week</a:t>
            </a:r>
          </a:p>
          <a:p>
            <a:pPr>
              <a:buFont typeface="Arial" panose="020B0604020202020204" pitchFamily="34" charset="0"/>
              <a:buChar char="•"/>
            </a:pPr>
            <a:r>
              <a:rPr lang="en-US" dirty="0"/>
              <a:t>Average Weekly Sales</a:t>
            </a:r>
          </a:p>
          <a:p>
            <a:pPr>
              <a:buFont typeface="Arial" panose="020B0604020202020204" pitchFamily="34" charset="0"/>
              <a:buChar char="•"/>
            </a:pPr>
            <a:r>
              <a:rPr lang="en-US" dirty="0"/>
              <a:t>Number of Stores</a:t>
            </a:r>
          </a:p>
          <a:p>
            <a:pPr marL="0" indent="0">
              <a:buNone/>
            </a:pPr>
            <a:endParaRPr lang="en-IN" dirty="0"/>
          </a:p>
        </p:txBody>
      </p:sp>
    </p:spTree>
    <p:extLst>
      <p:ext uri="{BB962C8B-B14F-4D97-AF65-F5344CB8AC3E}">
        <p14:creationId xmlns:p14="http://schemas.microsoft.com/office/powerpoint/2010/main" val="3992017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77DC8D6-3EF8-F533-44ED-631772B660D2}"/>
              </a:ext>
            </a:extLst>
          </p:cNvPr>
          <p:cNvSpPr>
            <a:spLocks noGrp="1"/>
          </p:cNvSpPr>
          <p:nvPr>
            <p:ph type="sldNum" sz="quarter" idx="12"/>
          </p:nvPr>
        </p:nvSpPr>
        <p:spPr/>
        <p:txBody>
          <a:bodyPr/>
          <a:lstStyle/>
          <a:p>
            <a:fld id="{C263D6C4-4840-40CC-AC84-17E24B3B7BDE}" type="slidenum">
              <a:rPr lang="en-US" noProof="0" smtClean="0"/>
              <a:pPr/>
              <a:t>4</a:t>
            </a:fld>
            <a:endParaRPr lang="en-US" noProof="0" dirty="0"/>
          </a:p>
        </p:txBody>
      </p:sp>
      <p:pic>
        <p:nvPicPr>
          <p:cNvPr id="9" name="Picture 8">
            <a:extLst>
              <a:ext uri="{FF2B5EF4-FFF2-40B4-BE49-F238E27FC236}">
                <a16:creationId xmlns:a16="http://schemas.microsoft.com/office/drawing/2014/main" id="{46640E2C-739F-0D5A-057B-FB0928F5FBB9}"/>
              </a:ext>
            </a:extLst>
          </p:cNvPr>
          <p:cNvPicPr>
            <a:picLocks noChangeAspect="1"/>
          </p:cNvPicPr>
          <p:nvPr/>
        </p:nvPicPr>
        <p:blipFill>
          <a:blip r:embed="rId2"/>
          <a:stretch>
            <a:fillRect/>
          </a:stretch>
        </p:blipFill>
        <p:spPr>
          <a:xfrm>
            <a:off x="0" y="2781"/>
            <a:ext cx="12192000" cy="6852438"/>
          </a:xfrm>
          <a:prstGeom prst="rect">
            <a:avLst/>
          </a:prstGeom>
        </p:spPr>
      </p:pic>
    </p:spTree>
    <p:extLst>
      <p:ext uri="{BB962C8B-B14F-4D97-AF65-F5344CB8AC3E}">
        <p14:creationId xmlns:p14="http://schemas.microsoft.com/office/powerpoint/2010/main" val="41647602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441DC6E-807C-9610-E84C-0E02ACE60F16}"/>
              </a:ext>
            </a:extLst>
          </p:cNvPr>
          <p:cNvSpPr>
            <a:spLocks noGrp="1"/>
          </p:cNvSpPr>
          <p:nvPr>
            <p:ph type="title"/>
          </p:nvPr>
        </p:nvSpPr>
        <p:spPr/>
        <p:txBody>
          <a:bodyPr/>
          <a:lstStyle/>
          <a:p>
            <a:pPr algn="ctr"/>
            <a:r>
              <a:rPr lang="en-IN" dirty="0"/>
              <a:t> Sales Trend Analysis</a:t>
            </a:r>
          </a:p>
        </p:txBody>
      </p:sp>
      <p:sp>
        <p:nvSpPr>
          <p:cNvPr id="4" name="Slide Number Placeholder 3">
            <a:extLst>
              <a:ext uri="{FF2B5EF4-FFF2-40B4-BE49-F238E27FC236}">
                <a16:creationId xmlns:a16="http://schemas.microsoft.com/office/drawing/2014/main" id="{937CF4DA-7A95-F9A7-2ED1-50CC48917655}"/>
              </a:ext>
            </a:extLst>
          </p:cNvPr>
          <p:cNvSpPr>
            <a:spLocks noGrp="1"/>
          </p:cNvSpPr>
          <p:nvPr>
            <p:ph type="sldNum" sz="quarter" idx="12"/>
          </p:nvPr>
        </p:nvSpPr>
        <p:spPr/>
        <p:txBody>
          <a:bodyPr/>
          <a:lstStyle/>
          <a:p>
            <a:fld id="{C263D6C4-4840-40CC-AC84-17E24B3B7BDE}" type="slidenum">
              <a:rPr lang="en-US" noProof="0" smtClean="0"/>
              <a:pPr/>
              <a:t>5</a:t>
            </a:fld>
            <a:endParaRPr lang="en-US" noProof="0" dirty="0"/>
          </a:p>
        </p:txBody>
      </p:sp>
      <p:sp>
        <p:nvSpPr>
          <p:cNvPr id="9" name="Text Placeholder 8">
            <a:extLst>
              <a:ext uri="{FF2B5EF4-FFF2-40B4-BE49-F238E27FC236}">
                <a16:creationId xmlns:a16="http://schemas.microsoft.com/office/drawing/2014/main" id="{D8F9B192-70F5-FD7C-5529-0D3B0E0A5F99}"/>
              </a:ext>
            </a:extLst>
          </p:cNvPr>
          <p:cNvSpPr>
            <a:spLocks noGrp="1"/>
          </p:cNvSpPr>
          <p:nvPr>
            <p:ph type="body" sz="quarter" idx="13"/>
          </p:nvPr>
        </p:nvSpPr>
        <p:spPr>
          <a:xfrm>
            <a:off x="444500" y="1239520"/>
            <a:ext cx="11214100" cy="5170611"/>
          </a:xfrm>
        </p:spPr>
        <p:txBody>
          <a:bodyPr/>
          <a:lstStyle/>
          <a:p>
            <a:pPr marL="0" indent="0">
              <a:buNone/>
            </a:pPr>
            <a:r>
              <a:rPr lang="en-IN" b="1" dirty="0"/>
              <a:t>Sum of Weekly Sales by Year (Line chart)  </a:t>
            </a:r>
          </a:p>
          <a:p>
            <a:r>
              <a:rPr lang="en-IN" dirty="0"/>
              <a:t>Sales increased from 2010 (2.29bn) to 2011 (2.45bn).</a:t>
            </a:r>
          </a:p>
          <a:p>
            <a:r>
              <a:rPr lang="en-IN" dirty="0"/>
              <a:t>There is a decline in 2012 (2.03bn).</a:t>
            </a:r>
          </a:p>
          <a:p>
            <a:r>
              <a:rPr lang="en-IN" dirty="0"/>
              <a:t>2011 recorded the highest sales during the 3-year period.</a:t>
            </a:r>
          </a:p>
          <a:p>
            <a:r>
              <a:rPr lang="en-IN" dirty="0"/>
              <a:t>This indicates strong growth in 2011 followed by a slowdown.</a:t>
            </a:r>
          </a:p>
          <a:p>
            <a:pPr marL="0" indent="0">
              <a:buNone/>
            </a:pPr>
            <a:endParaRPr lang="en-IN" dirty="0"/>
          </a:p>
          <a:p>
            <a:pPr marL="0" indent="0">
              <a:buNone/>
            </a:pPr>
            <a:r>
              <a:rPr lang="en-IN" dirty="0"/>
              <a:t>	</a:t>
            </a:r>
          </a:p>
          <a:p>
            <a:pPr marL="0" indent="0">
              <a:buNone/>
            </a:pPr>
            <a:endParaRPr lang="en-IN" dirty="0"/>
          </a:p>
          <a:p>
            <a:pPr marL="0" indent="0">
              <a:buNone/>
            </a:pPr>
            <a:endParaRPr lang="en-IN" dirty="0"/>
          </a:p>
        </p:txBody>
      </p:sp>
      <p:pic>
        <p:nvPicPr>
          <p:cNvPr id="23" name="Picture 22" descr="A graph showing the sales of a company&#10;&#10;AI-generated content may be incorrect.">
            <a:extLst>
              <a:ext uri="{FF2B5EF4-FFF2-40B4-BE49-F238E27FC236}">
                <a16:creationId xmlns:a16="http://schemas.microsoft.com/office/drawing/2014/main" id="{1D7E1C4E-3376-05B4-3332-6098ABBC2D94}"/>
              </a:ext>
            </a:extLst>
          </p:cNvPr>
          <p:cNvPicPr>
            <a:picLocks noChangeAspect="1"/>
          </p:cNvPicPr>
          <p:nvPr/>
        </p:nvPicPr>
        <p:blipFill>
          <a:blip r:embed="rId2"/>
          <a:stretch>
            <a:fillRect/>
          </a:stretch>
        </p:blipFill>
        <p:spPr>
          <a:xfrm>
            <a:off x="2355850" y="3190240"/>
            <a:ext cx="4655820" cy="3489960"/>
          </a:xfrm>
          <a:prstGeom prst="rect">
            <a:avLst/>
          </a:prstGeom>
        </p:spPr>
      </p:pic>
    </p:spTree>
    <p:extLst>
      <p:ext uri="{BB962C8B-B14F-4D97-AF65-F5344CB8AC3E}">
        <p14:creationId xmlns:p14="http://schemas.microsoft.com/office/powerpoint/2010/main" val="2858061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C2DF3-BE14-7DD1-751F-5A0BE0D53579}"/>
              </a:ext>
            </a:extLst>
          </p:cNvPr>
          <p:cNvSpPr>
            <a:spLocks noGrp="1"/>
          </p:cNvSpPr>
          <p:nvPr>
            <p:ph type="title"/>
          </p:nvPr>
        </p:nvSpPr>
        <p:spPr/>
        <p:txBody>
          <a:bodyPr/>
          <a:lstStyle/>
          <a:p>
            <a:r>
              <a:rPr lang="en-IN" dirty="0"/>
              <a:t> Sales Trend Analysis</a:t>
            </a:r>
          </a:p>
        </p:txBody>
      </p:sp>
      <p:sp>
        <p:nvSpPr>
          <p:cNvPr id="3" name="Text Placeholder 2">
            <a:extLst>
              <a:ext uri="{FF2B5EF4-FFF2-40B4-BE49-F238E27FC236}">
                <a16:creationId xmlns:a16="http://schemas.microsoft.com/office/drawing/2014/main" id="{F2078572-5594-86A7-C70B-D2FF93F6B07E}"/>
              </a:ext>
            </a:extLst>
          </p:cNvPr>
          <p:cNvSpPr>
            <a:spLocks noGrp="1"/>
          </p:cNvSpPr>
          <p:nvPr>
            <p:ph type="body" sz="quarter" idx="18"/>
          </p:nvPr>
        </p:nvSpPr>
        <p:spPr>
          <a:xfrm>
            <a:off x="355600" y="1158240"/>
            <a:ext cx="11490960" cy="4815840"/>
          </a:xfrm>
        </p:spPr>
        <p:txBody>
          <a:bodyPr/>
          <a:lstStyle/>
          <a:p>
            <a:r>
              <a:rPr lang="en-US" dirty="0"/>
              <a:t> </a:t>
            </a:r>
          </a:p>
          <a:p>
            <a:r>
              <a:rPr lang="en-US" dirty="0"/>
              <a:t>  </a:t>
            </a:r>
            <a:r>
              <a:rPr lang="en-US" sz="1600" b="1" dirty="0"/>
              <a:t>Sum of Weekly Sales + Average Unemployment by Month (Dual-Line Chart)</a:t>
            </a:r>
          </a:p>
          <a:p>
            <a:pPr marL="285750" indent="-285750">
              <a:buFont typeface="Arial" panose="020B0604020202020204" pitchFamily="34" charset="0"/>
              <a:buChar char="•"/>
            </a:pPr>
            <a:r>
              <a:rPr lang="en-US" dirty="0"/>
              <a:t>  Sales peak in </a:t>
            </a:r>
            <a:r>
              <a:rPr lang="en-US" b="1" dirty="0"/>
              <a:t>February and March</a:t>
            </a:r>
            <a:r>
              <a:rPr lang="en-US" dirty="0"/>
              <a:t>.</a:t>
            </a:r>
          </a:p>
          <a:p>
            <a:pPr marL="285750" indent="-285750">
              <a:buFont typeface="Arial" panose="020B0604020202020204" pitchFamily="34" charset="0"/>
              <a:buChar char="•"/>
            </a:pPr>
            <a:r>
              <a:rPr lang="en-US" dirty="0"/>
              <a:t>  A noticeable decline in sales is seen from </a:t>
            </a:r>
            <a:r>
              <a:rPr lang="en-US" b="1" dirty="0"/>
              <a:t>July to September</a:t>
            </a:r>
            <a:r>
              <a:rPr lang="en-US" dirty="0"/>
              <a:t>.</a:t>
            </a:r>
          </a:p>
          <a:p>
            <a:pPr marL="285750" indent="-285750">
              <a:buFont typeface="Arial" panose="020B0604020202020204" pitchFamily="34" charset="0"/>
              <a:buChar char="•"/>
            </a:pPr>
            <a:r>
              <a:rPr lang="en-US" dirty="0"/>
              <a:t>  Sales rise again in </a:t>
            </a:r>
            <a:r>
              <a:rPr lang="en-US" b="1" dirty="0"/>
              <a:t>November and December</a:t>
            </a:r>
            <a:r>
              <a:rPr lang="en-US" dirty="0"/>
              <a:t> (holiday season).</a:t>
            </a:r>
          </a:p>
          <a:p>
            <a:pPr marL="285750" indent="-285750">
              <a:buFont typeface="Arial" panose="020B0604020202020204" pitchFamily="34" charset="0"/>
              <a:buChar char="•"/>
            </a:pPr>
            <a:r>
              <a:rPr lang="en-US" dirty="0"/>
              <a:t> </a:t>
            </a:r>
            <a:r>
              <a:rPr lang="en-US" b="1" dirty="0"/>
              <a:t>Unemployment drops when sales increase</a:t>
            </a:r>
            <a:r>
              <a:rPr lang="en-US" dirty="0"/>
              <a:t>, showing an economic relationship.</a:t>
            </a:r>
          </a:p>
          <a:p>
            <a:pPr marL="285750" indent="-285750">
              <a:buFont typeface="Arial" panose="020B0604020202020204" pitchFamily="34" charset="0"/>
              <a:buChar char="•"/>
            </a:pPr>
            <a:r>
              <a:rPr lang="en-US" dirty="0"/>
              <a:t> When unemployment rises (e.g., October), sales drop.</a:t>
            </a:r>
          </a:p>
          <a:p>
            <a:r>
              <a:rPr lang="en-US" dirty="0"/>
              <a:t>		</a:t>
            </a:r>
          </a:p>
          <a:p>
            <a:r>
              <a:rPr lang="en-US" dirty="0"/>
              <a:t>  </a:t>
            </a:r>
          </a:p>
          <a:p>
            <a:endParaRPr lang="en-US" dirty="0"/>
          </a:p>
          <a:p>
            <a:endParaRPr lang="en-US" dirty="0"/>
          </a:p>
          <a:p>
            <a:endParaRPr lang="en-IN" dirty="0"/>
          </a:p>
        </p:txBody>
      </p:sp>
      <p:sp>
        <p:nvSpPr>
          <p:cNvPr id="4" name="Slide Number Placeholder 3">
            <a:extLst>
              <a:ext uri="{FF2B5EF4-FFF2-40B4-BE49-F238E27FC236}">
                <a16:creationId xmlns:a16="http://schemas.microsoft.com/office/drawing/2014/main" id="{ECB1386E-0B49-2135-0822-B4884F5DEDA4}"/>
              </a:ext>
            </a:extLst>
          </p:cNvPr>
          <p:cNvSpPr>
            <a:spLocks noGrp="1"/>
          </p:cNvSpPr>
          <p:nvPr>
            <p:ph type="sldNum" sz="quarter" idx="12"/>
          </p:nvPr>
        </p:nvSpPr>
        <p:spPr/>
        <p:txBody>
          <a:bodyPr/>
          <a:lstStyle/>
          <a:p>
            <a:fld id="{C263D6C4-4840-40CC-AC84-17E24B3B7BDE}" type="slidenum">
              <a:rPr lang="en-US" noProof="0" smtClean="0"/>
              <a:pPr/>
              <a:t>6</a:t>
            </a:fld>
            <a:endParaRPr lang="en-US" noProof="0" dirty="0"/>
          </a:p>
        </p:txBody>
      </p:sp>
      <p:pic>
        <p:nvPicPr>
          <p:cNvPr id="9" name="Picture 8" descr="A graph of the unemployment rate&#10;&#10;AI-generated content may be incorrect.">
            <a:extLst>
              <a:ext uri="{FF2B5EF4-FFF2-40B4-BE49-F238E27FC236}">
                <a16:creationId xmlns:a16="http://schemas.microsoft.com/office/drawing/2014/main" id="{0B438E6D-5E5E-0EA8-D727-5F55A14B23FE}"/>
              </a:ext>
            </a:extLst>
          </p:cNvPr>
          <p:cNvPicPr>
            <a:picLocks noChangeAspect="1"/>
          </p:cNvPicPr>
          <p:nvPr/>
        </p:nvPicPr>
        <p:blipFill>
          <a:blip r:embed="rId2"/>
          <a:stretch>
            <a:fillRect/>
          </a:stretch>
        </p:blipFill>
        <p:spPr>
          <a:xfrm>
            <a:off x="3281680" y="3301591"/>
            <a:ext cx="6949440" cy="3489960"/>
          </a:xfrm>
          <a:prstGeom prst="rect">
            <a:avLst/>
          </a:prstGeom>
        </p:spPr>
      </p:pic>
    </p:spTree>
    <p:extLst>
      <p:ext uri="{BB962C8B-B14F-4D97-AF65-F5344CB8AC3E}">
        <p14:creationId xmlns:p14="http://schemas.microsoft.com/office/powerpoint/2010/main" val="1107391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C2DF3-BE14-7DD1-751F-5A0BE0D53579}"/>
              </a:ext>
            </a:extLst>
          </p:cNvPr>
          <p:cNvSpPr>
            <a:spLocks noGrp="1"/>
          </p:cNvSpPr>
          <p:nvPr>
            <p:ph type="title"/>
          </p:nvPr>
        </p:nvSpPr>
        <p:spPr/>
        <p:txBody>
          <a:bodyPr/>
          <a:lstStyle/>
          <a:p>
            <a:r>
              <a:rPr lang="en-US"/>
              <a:t>Donut Chart – Average Weekly Sales by Holiday Flag</a:t>
            </a:r>
            <a:endParaRPr lang="en-IN" dirty="0"/>
          </a:p>
        </p:txBody>
      </p:sp>
      <p:sp>
        <p:nvSpPr>
          <p:cNvPr id="3" name="Text Placeholder 2">
            <a:extLst>
              <a:ext uri="{FF2B5EF4-FFF2-40B4-BE49-F238E27FC236}">
                <a16:creationId xmlns:a16="http://schemas.microsoft.com/office/drawing/2014/main" id="{F2078572-5594-86A7-C70B-D2FF93F6B07E}"/>
              </a:ext>
            </a:extLst>
          </p:cNvPr>
          <p:cNvSpPr>
            <a:spLocks noGrp="1"/>
          </p:cNvSpPr>
          <p:nvPr>
            <p:ph type="body" sz="quarter" idx="18"/>
          </p:nvPr>
        </p:nvSpPr>
        <p:spPr>
          <a:xfrm>
            <a:off x="355600" y="1158240"/>
            <a:ext cx="11490960" cy="4815840"/>
          </a:xfrm>
        </p:spPr>
        <p:txBody>
          <a:bodyPr/>
          <a:lstStyle/>
          <a:p>
            <a:r>
              <a:rPr lang="en-US" dirty="0"/>
              <a:t> </a:t>
            </a:r>
          </a:p>
          <a:p>
            <a:r>
              <a:rPr lang="en-US" dirty="0"/>
              <a:t>		</a:t>
            </a:r>
          </a:p>
          <a:p>
            <a:r>
              <a:rPr lang="en-US" dirty="0"/>
              <a:t> </a:t>
            </a:r>
            <a:r>
              <a:rPr lang="en-US" sz="1600" b="1" dirty="0"/>
              <a:t>Average Weekly Sales: Holiday vs Non-Holiday Weeks:</a:t>
            </a:r>
          </a:p>
          <a:p>
            <a:pPr marL="285750" indent="-285750">
              <a:buFont typeface="Arial" panose="020B0604020202020204" pitchFamily="34" charset="0"/>
              <a:buChar char="•"/>
            </a:pPr>
            <a:r>
              <a:rPr lang="en-US" b="1" dirty="0"/>
              <a:t> </a:t>
            </a:r>
            <a:r>
              <a:rPr lang="en-US" dirty="0"/>
              <a:t>The donut chart shows the </a:t>
            </a:r>
            <a:r>
              <a:rPr lang="en-US" b="1" dirty="0"/>
              <a:t>difference in average weekly sales between holiday and non-holiday weeks</a:t>
            </a:r>
            <a:r>
              <a:rPr lang="en-US" dirty="0"/>
              <a:t>.</a:t>
            </a:r>
            <a:endParaRPr lang="en-US" b="1" dirty="0"/>
          </a:p>
          <a:p>
            <a:pPr marL="285750" indent="-285750">
              <a:buFont typeface="Arial" panose="020B0604020202020204" pitchFamily="34" charset="0"/>
              <a:buChar char="•"/>
            </a:pPr>
            <a:r>
              <a:rPr lang="en-US" b="1" dirty="0"/>
              <a:t> Holiday weeks contribute ₹1.12M</a:t>
            </a:r>
            <a:r>
              <a:rPr lang="en-US" dirty="0"/>
              <a:t> (</a:t>
            </a:r>
            <a:r>
              <a:rPr lang="en-US" dirty="0" err="1"/>
              <a:t>approx</a:t>
            </a:r>
            <a:r>
              <a:rPr lang="en-US" dirty="0"/>
              <a:t> </a:t>
            </a:r>
            <a:r>
              <a:rPr lang="en-US" b="1" dirty="0"/>
              <a:t>51.88%</a:t>
            </a:r>
            <a:r>
              <a:rPr lang="en-US" dirty="0"/>
              <a:t>).</a:t>
            </a:r>
          </a:p>
          <a:p>
            <a:pPr marL="342900" indent="-342900">
              <a:buFont typeface="Arial" panose="020B0604020202020204" pitchFamily="34" charset="0"/>
              <a:buChar char="•"/>
            </a:pPr>
            <a:r>
              <a:rPr lang="en-US" b="1" dirty="0"/>
              <a:t>Non-holiday weeks contribute ₹1.04M</a:t>
            </a:r>
            <a:r>
              <a:rPr lang="en-US" dirty="0"/>
              <a:t> (</a:t>
            </a:r>
            <a:r>
              <a:rPr lang="en-US" dirty="0" err="1"/>
              <a:t>approx</a:t>
            </a:r>
            <a:r>
              <a:rPr lang="en-US" dirty="0"/>
              <a:t> </a:t>
            </a:r>
            <a:r>
              <a:rPr lang="en-US" b="1" dirty="0"/>
              <a:t>48.12%</a:t>
            </a:r>
            <a:r>
              <a:rPr lang="en-US" dirty="0"/>
              <a:t>).</a:t>
            </a:r>
            <a:endParaRPr lang="en-US" b="1" dirty="0"/>
          </a:p>
          <a:p>
            <a:pPr marL="285750" indent="-285750">
              <a:buFont typeface="Arial" panose="020B0604020202020204" pitchFamily="34" charset="0"/>
              <a:buChar char="•"/>
            </a:pPr>
            <a:r>
              <a:rPr lang="en-US" dirty="0"/>
              <a:t>This indicates that </a:t>
            </a:r>
            <a:r>
              <a:rPr lang="en-US" b="1" dirty="0"/>
              <a:t>holiday periods result in higher customer spending</a:t>
            </a:r>
            <a:r>
              <a:rPr lang="en-US" dirty="0"/>
              <a:t>, slightly boosting weekly sales.</a:t>
            </a:r>
          </a:p>
          <a:p>
            <a:pPr marL="285750" indent="-2857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ECB1386E-0B49-2135-0822-B4884F5DEDA4}"/>
              </a:ext>
            </a:extLst>
          </p:cNvPr>
          <p:cNvSpPr>
            <a:spLocks noGrp="1"/>
          </p:cNvSpPr>
          <p:nvPr>
            <p:ph type="sldNum" sz="quarter" idx="12"/>
          </p:nvPr>
        </p:nvSpPr>
        <p:spPr/>
        <p:txBody>
          <a:bodyPr/>
          <a:lstStyle/>
          <a:p>
            <a:fld id="{C263D6C4-4840-40CC-AC84-17E24B3B7BDE}" type="slidenum">
              <a:rPr lang="en-US" noProof="0" smtClean="0"/>
              <a:pPr/>
              <a:t>7</a:t>
            </a:fld>
            <a:endParaRPr lang="en-US" noProof="0" dirty="0"/>
          </a:p>
        </p:txBody>
      </p:sp>
      <p:pic>
        <p:nvPicPr>
          <p:cNvPr id="6" name="Picture 5" descr="A screenshot of a graph&#10;&#10;AI-generated content may be incorrect.">
            <a:extLst>
              <a:ext uri="{FF2B5EF4-FFF2-40B4-BE49-F238E27FC236}">
                <a16:creationId xmlns:a16="http://schemas.microsoft.com/office/drawing/2014/main" id="{E3A61E6F-570A-AD2B-33B0-95813BAC7256}"/>
              </a:ext>
            </a:extLst>
          </p:cNvPr>
          <p:cNvPicPr>
            <a:picLocks noChangeAspect="1"/>
          </p:cNvPicPr>
          <p:nvPr/>
        </p:nvPicPr>
        <p:blipFill>
          <a:blip r:embed="rId2"/>
          <a:stretch>
            <a:fillRect/>
          </a:stretch>
        </p:blipFill>
        <p:spPr>
          <a:xfrm>
            <a:off x="3498850" y="3247390"/>
            <a:ext cx="4747260" cy="3512820"/>
          </a:xfrm>
          <a:prstGeom prst="rect">
            <a:avLst/>
          </a:prstGeom>
        </p:spPr>
      </p:pic>
    </p:spTree>
    <p:extLst>
      <p:ext uri="{BB962C8B-B14F-4D97-AF65-F5344CB8AC3E}">
        <p14:creationId xmlns:p14="http://schemas.microsoft.com/office/powerpoint/2010/main" val="30037741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C2DF3-BE14-7DD1-751F-5A0BE0D53579}"/>
              </a:ext>
            </a:extLst>
          </p:cNvPr>
          <p:cNvSpPr>
            <a:spLocks noGrp="1"/>
          </p:cNvSpPr>
          <p:nvPr>
            <p:ph type="title"/>
          </p:nvPr>
        </p:nvSpPr>
        <p:spPr/>
        <p:txBody>
          <a:bodyPr/>
          <a:lstStyle/>
          <a:p>
            <a:r>
              <a:rPr lang="en-US" dirty="0"/>
              <a:t>Cluster Column Chart – Total Weekly Sales by Store</a:t>
            </a:r>
            <a:endParaRPr lang="en-IN" dirty="0"/>
          </a:p>
        </p:txBody>
      </p:sp>
      <p:sp>
        <p:nvSpPr>
          <p:cNvPr id="3" name="Text Placeholder 2">
            <a:extLst>
              <a:ext uri="{FF2B5EF4-FFF2-40B4-BE49-F238E27FC236}">
                <a16:creationId xmlns:a16="http://schemas.microsoft.com/office/drawing/2014/main" id="{F2078572-5594-86A7-C70B-D2FF93F6B07E}"/>
              </a:ext>
            </a:extLst>
          </p:cNvPr>
          <p:cNvSpPr>
            <a:spLocks noGrp="1"/>
          </p:cNvSpPr>
          <p:nvPr>
            <p:ph type="body" sz="quarter" idx="18"/>
          </p:nvPr>
        </p:nvSpPr>
        <p:spPr>
          <a:xfrm>
            <a:off x="355600" y="1158240"/>
            <a:ext cx="11490960" cy="4815840"/>
          </a:xfrm>
        </p:spPr>
        <p:txBody>
          <a:bodyPr/>
          <a:lstStyle/>
          <a:p>
            <a:r>
              <a:rPr lang="en-US" dirty="0"/>
              <a:t> </a:t>
            </a:r>
          </a:p>
          <a:p>
            <a:r>
              <a:rPr lang="en-US" dirty="0"/>
              <a:t>	</a:t>
            </a:r>
            <a:r>
              <a:rPr lang="en-US" sz="1600" b="1" dirty="0"/>
              <a:t>	</a:t>
            </a:r>
          </a:p>
          <a:p>
            <a:r>
              <a:rPr lang="en-US" sz="1600" b="1" dirty="0"/>
              <a:t>Store-wise Total Weekly Sales Analysis:</a:t>
            </a:r>
          </a:p>
          <a:p>
            <a:pPr marL="285750" indent="-285750">
              <a:buFont typeface="Arial" panose="020B0604020202020204" pitchFamily="34" charset="0"/>
              <a:buChar char="•"/>
            </a:pPr>
            <a:r>
              <a:rPr lang="en-US" sz="1600" b="1" dirty="0"/>
              <a:t> </a:t>
            </a:r>
            <a:r>
              <a:rPr lang="en-US" dirty="0"/>
              <a:t>This bar chart shows the </a:t>
            </a:r>
            <a:r>
              <a:rPr lang="en-US" b="1" dirty="0"/>
              <a:t>total weekly sales across all stores (1 to 45)</a:t>
            </a:r>
            <a:r>
              <a:rPr lang="en-US" dirty="0"/>
              <a:t>.</a:t>
            </a:r>
          </a:p>
          <a:p>
            <a:pPr marL="342900" indent="-342900">
              <a:buFont typeface="Arial" panose="020B0604020202020204" pitchFamily="34" charset="0"/>
              <a:buChar char="•"/>
            </a:pPr>
            <a:r>
              <a:rPr lang="en-US" dirty="0"/>
              <a:t>Some stores (e.g., Store 20, 4, 14)* have </a:t>
            </a:r>
            <a:r>
              <a:rPr lang="en-US" b="1" dirty="0"/>
              <a:t>consistently higher weekly sales</a:t>
            </a:r>
            <a:r>
              <a:rPr lang="en-US" dirty="0"/>
              <a:t>, indicating strong demand or larger customer base.</a:t>
            </a:r>
          </a:p>
          <a:p>
            <a:pPr marL="285750" indent="-285750">
              <a:buFont typeface="Arial" panose="020B0604020202020204" pitchFamily="34" charset="0"/>
              <a:buChar char="•"/>
            </a:pPr>
            <a:r>
              <a:rPr lang="en-US" dirty="0"/>
              <a:t> The chart helps identify </a:t>
            </a:r>
            <a:r>
              <a:rPr lang="en-US" b="1" dirty="0"/>
              <a:t>top-performing</a:t>
            </a:r>
            <a:r>
              <a:rPr lang="en-US" dirty="0"/>
              <a:t> and </a:t>
            </a:r>
            <a:r>
              <a:rPr lang="en-US" b="1" dirty="0"/>
              <a:t>underperforming</a:t>
            </a:r>
            <a:r>
              <a:rPr lang="en-US" dirty="0"/>
              <a:t> stores.</a:t>
            </a:r>
            <a:endParaRPr lang="en-US" b="1" dirty="0"/>
          </a:p>
          <a:p>
            <a:endParaRPr lang="en-US" sz="1600" b="1" dirty="0"/>
          </a:p>
        </p:txBody>
      </p:sp>
      <p:sp>
        <p:nvSpPr>
          <p:cNvPr id="4" name="Slide Number Placeholder 3">
            <a:extLst>
              <a:ext uri="{FF2B5EF4-FFF2-40B4-BE49-F238E27FC236}">
                <a16:creationId xmlns:a16="http://schemas.microsoft.com/office/drawing/2014/main" id="{ECB1386E-0B49-2135-0822-B4884F5DEDA4}"/>
              </a:ext>
            </a:extLst>
          </p:cNvPr>
          <p:cNvSpPr>
            <a:spLocks noGrp="1"/>
          </p:cNvSpPr>
          <p:nvPr>
            <p:ph type="sldNum" sz="quarter" idx="12"/>
          </p:nvPr>
        </p:nvSpPr>
        <p:spPr/>
        <p:txBody>
          <a:bodyPr/>
          <a:lstStyle/>
          <a:p>
            <a:fld id="{C263D6C4-4840-40CC-AC84-17E24B3B7BDE}" type="slidenum">
              <a:rPr lang="en-US" noProof="0" smtClean="0"/>
              <a:pPr/>
              <a:t>8</a:t>
            </a:fld>
            <a:endParaRPr lang="en-US" noProof="0" dirty="0"/>
          </a:p>
        </p:txBody>
      </p:sp>
      <p:pic>
        <p:nvPicPr>
          <p:cNvPr id="7" name="Picture 6" descr="A graph of blue bars&#10;&#10;AI-generated content may be incorrect.">
            <a:extLst>
              <a:ext uri="{FF2B5EF4-FFF2-40B4-BE49-F238E27FC236}">
                <a16:creationId xmlns:a16="http://schemas.microsoft.com/office/drawing/2014/main" id="{7BF9176C-437C-8AC4-B672-74C86635CC4D}"/>
              </a:ext>
            </a:extLst>
          </p:cNvPr>
          <p:cNvPicPr>
            <a:picLocks noChangeAspect="1"/>
          </p:cNvPicPr>
          <p:nvPr/>
        </p:nvPicPr>
        <p:blipFill>
          <a:blip r:embed="rId2"/>
          <a:stretch>
            <a:fillRect/>
          </a:stretch>
        </p:blipFill>
        <p:spPr>
          <a:xfrm>
            <a:off x="2114550" y="3205480"/>
            <a:ext cx="6987540" cy="3474720"/>
          </a:xfrm>
          <a:prstGeom prst="rect">
            <a:avLst/>
          </a:prstGeom>
        </p:spPr>
      </p:pic>
    </p:spTree>
    <p:extLst>
      <p:ext uri="{BB962C8B-B14F-4D97-AF65-F5344CB8AC3E}">
        <p14:creationId xmlns:p14="http://schemas.microsoft.com/office/powerpoint/2010/main" val="2453857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C2DF3-BE14-7DD1-751F-5A0BE0D53579}"/>
              </a:ext>
            </a:extLst>
          </p:cNvPr>
          <p:cNvSpPr>
            <a:spLocks noGrp="1"/>
          </p:cNvSpPr>
          <p:nvPr>
            <p:ph type="title"/>
          </p:nvPr>
        </p:nvSpPr>
        <p:spPr/>
        <p:txBody>
          <a:bodyPr/>
          <a:lstStyle/>
          <a:p>
            <a:r>
              <a:rPr lang="en-US" dirty="0"/>
              <a:t>Consumer Price Index (CPI) Trend Analysis (2010–2012)</a:t>
            </a:r>
            <a:endParaRPr lang="en-IN" dirty="0"/>
          </a:p>
        </p:txBody>
      </p:sp>
      <p:sp>
        <p:nvSpPr>
          <p:cNvPr id="3" name="Text Placeholder 2">
            <a:extLst>
              <a:ext uri="{FF2B5EF4-FFF2-40B4-BE49-F238E27FC236}">
                <a16:creationId xmlns:a16="http://schemas.microsoft.com/office/drawing/2014/main" id="{F2078572-5594-86A7-C70B-D2FF93F6B07E}"/>
              </a:ext>
            </a:extLst>
          </p:cNvPr>
          <p:cNvSpPr>
            <a:spLocks noGrp="1"/>
          </p:cNvSpPr>
          <p:nvPr>
            <p:ph type="body" sz="quarter" idx="18"/>
          </p:nvPr>
        </p:nvSpPr>
        <p:spPr>
          <a:xfrm>
            <a:off x="355600" y="1158240"/>
            <a:ext cx="11490960" cy="4815840"/>
          </a:xfrm>
        </p:spPr>
        <p:txBody>
          <a:bodyPr/>
          <a:lstStyle/>
          <a:p>
            <a:r>
              <a:rPr lang="en-US" dirty="0"/>
              <a:t> </a:t>
            </a:r>
          </a:p>
          <a:p>
            <a:r>
              <a:rPr lang="en-IN" sz="2000" dirty="0"/>
              <a:t>Key Observations (Area Chart) :</a:t>
            </a:r>
          </a:p>
          <a:p>
            <a:pPr marL="285750" indent="-285750">
              <a:buFont typeface="Arial" panose="020B0604020202020204" pitchFamily="34" charset="0"/>
              <a:buChar char="•"/>
            </a:pPr>
            <a:r>
              <a:rPr lang="en-US" dirty="0"/>
              <a:t> CPI was highest in </a:t>
            </a:r>
            <a:r>
              <a:rPr lang="en-US" b="1" dirty="0"/>
              <a:t>2010 (228.8)</a:t>
            </a:r>
            <a:r>
              <a:rPr lang="en-US" dirty="0"/>
              <a:t> indicating high inflation.</a:t>
            </a:r>
          </a:p>
          <a:p>
            <a:pPr marL="285750" indent="-285750">
              <a:buFont typeface="Arial" panose="020B0604020202020204" pitchFamily="34" charset="0"/>
              <a:buChar char="•"/>
            </a:pPr>
            <a:r>
              <a:rPr lang="en-US" b="1" dirty="0"/>
              <a:t> </a:t>
            </a:r>
            <a:r>
              <a:rPr lang="en-US" dirty="0"/>
              <a:t>CPI dropped in </a:t>
            </a:r>
            <a:r>
              <a:rPr lang="en-US" b="1" dirty="0"/>
              <a:t>2011 (212.2)</a:t>
            </a:r>
            <a:r>
              <a:rPr lang="en-US" dirty="0"/>
              <a:t> showing improved economic stability.</a:t>
            </a:r>
          </a:p>
          <a:p>
            <a:pPr marL="285750" indent="-285750">
              <a:buFont typeface="Arial" panose="020B0604020202020204" pitchFamily="34" charset="0"/>
              <a:buChar char="•"/>
            </a:pPr>
            <a:r>
              <a:rPr lang="en-US" b="1" dirty="0"/>
              <a:t> </a:t>
            </a:r>
            <a:r>
              <a:rPr lang="en-US" dirty="0"/>
              <a:t>CPI slightly decreased again in </a:t>
            </a:r>
            <a:r>
              <a:rPr lang="en-US" b="1" dirty="0"/>
              <a:t>2012 (223.3)</a:t>
            </a:r>
            <a:r>
              <a:rPr lang="en-US" dirty="0"/>
              <a:t>.</a:t>
            </a:r>
          </a:p>
          <a:p>
            <a:pPr marL="285750" indent="-285750">
              <a:buFont typeface="Arial" panose="020B0604020202020204" pitchFamily="34" charset="0"/>
              <a:buChar char="•"/>
            </a:pPr>
            <a:r>
              <a:rPr lang="en-US" b="1" dirty="0"/>
              <a:t> </a:t>
            </a:r>
            <a:r>
              <a:rPr lang="en-US" dirty="0"/>
              <a:t>Overall, inflation decreased over the years, which may have contributed to improved sales trends.</a:t>
            </a:r>
            <a:endParaRPr lang="en-US" b="1" dirty="0"/>
          </a:p>
          <a:p>
            <a:endParaRPr lang="en-IN" sz="2000" b="1" dirty="0"/>
          </a:p>
        </p:txBody>
      </p:sp>
      <p:sp>
        <p:nvSpPr>
          <p:cNvPr id="4" name="Slide Number Placeholder 3">
            <a:extLst>
              <a:ext uri="{FF2B5EF4-FFF2-40B4-BE49-F238E27FC236}">
                <a16:creationId xmlns:a16="http://schemas.microsoft.com/office/drawing/2014/main" id="{ECB1386E-0B49-2135-0822-B4884F5DEDA4}"/>
              </a:ext>
            </a:extLst>
          </p:cNvPr>
          <p:cNvSpPr>
            <a:spLocks noGrp="1"/>
          </p:cNvSpPr>
          <p:nvPr>
            <p:ph type="sldNum" sz="quarter" idx="12"/>
          </p:nvPr>
        </p:nvSpPr>
        <p:spPr/>
        <p:txBody>
          <a:bodyPr/>
          <a:lstStyle/>
          <a:p>
            <a:fld id="{C263D6C4-4840-40CC-AC84-17E24B3B7BDE}" type="slidenum">
              <a:rPr lang="en-US" noProof="0" smtClean="0"/>
              <a:pPr/>
              <a:t>9</a:t>
            </a:fld>
            <a:endParaRPr lang="en-US" noProof="0" dirty="0"/>
          </a:p>
        </p:txBody>
      </p:sp>
      <p:pic>
        <p:nvPicPr>
          <p:cNvPr id="9" name="Picture 8" descr="A graph showing the price of a consumer&#10;&#10;AI-generated content may be incorrect.">
            <a:extLst>
              <a:ext uri="{FF2B5EF4-FFF2-40B4-BE49-F238E27FC236}">
                <a16:creationId xmlns:a16="http://schemas.microsoft.com/office/drawing/2014/main" id="{D0A2FD27-E5FB-32CA-386C-196F76C0CB4D}"/>
              </a:ext>
            </a:extLst>
          </p:cNvPr>
          <p:cNvPicPr>
            <a:picLocks noChangeAspect="1"/>
          </p:cNvPicPr>
          <p:nvPr/>
        </p:nvPicPr>
        <p:blipFill>
          <a:blip r:embed="rId2"/>
          <a:stretch>
            <a:fillRect/>
          </a:stretch>
        </p:blipFill>
        <p:spPr>
          <a:xfrm>
            <a:off x="2929890" y="3188744"/>
            <a:ext cx="6027420" cy="2865120"/>
          </a:xfrm>
          <a:prstGeom prst="rect">
            <a:avLst/>
          </a:prstGeom>
        </p:spPr>
      </p:pic>
    </p:spTree>
    <p:extLst>
      <p:ext uri="{BB962C8B-B14F-4D97-AF65-F5344CB8AC3E}">
        <p14:creationId xmlns:p14="http://schemas.microsoft.com/office/powerpoint/2010/main" val="29769030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C2DF3-BE14-7DD1-751F-5A0BE0D53579}"/>
              </a:ext>
            </a:extLst>
          </p:cNvPr>
          <p:cNvSpPr>
            <a:spLocks noGrp="1"/>
          </p:cNvSpPr>
          <p:nvPr>
            <p:ph type="title"/>
          </p:nvPr>
        </p:nvSpPr>
        <p:spPr>
          <a:xfrm>
            <a:off x="444500" y="542925"/>
            <a:ext cx="11214100" cy="978729"/>
          </a:xfrm>
        </p:spPr>
        <p:txBody>
          <a:bodyPr/>
          <a:lstStyle/>
          <a:p>
            <a:r>
              <a:rPr lang="en-US" dirty="0"/>
              <a:t>External Factors Impacting Weekly Sales (Scatter Chart Analysis)</a:t>
            </a:r>
            <a:endParaRPr lang="en-IN" dirty="0"/>
          </a:p>
        </p:txBody>
      </p:sp>
      <p:sp>
        <p:nvSpPr>
          <p:cNvPr id="3" name="Text Placeholder 2">
            <a:extLst>
              <a:ext uri="{FF2B5EF4-FFF2-40B4-BE49-F238E27FC236}">
                <a16:creationId xmlns:a16="http://schemas.microsoft.com/office/drawing/2014/main" id="{F2078572-5594-86A7-C70B-D2FF93F6B07E}"/>
              </a:ext>
            </a:extLst>
          </p:cNvPr>
          <p:cNvSpPr>
            <a:spLocks noGrp="1"/>
          </p:cNvSpPr>
          <p:nvPr>
            <p:ph type="body" sz="quarter" idx="18"/>
          </p:nvPr>
        </p:nvSpPr>
        <p:spPr>
          <a:xfrm>
            <a:off x="306070" y="1229360"/>
            <a:ext cx="11490960" cy="4815840"/>
          </a:xfrm>
        </p:spPr>
        <p:txBody>
          <a:bodyPr/>
          <a:lstStyle/>
          <a:p>
            <a:r>
              <a:rPr lang="en-US" dirty="0"/>
              <a:t> </a:t>
            </a:r>
          </a:p>
          <a:p>
            <a:r>
              <a:rPr lang="en-US" sz="1600" b="1" dirty="0"/>
              <a:t>Scatter Chart: Average Fuel Price vs Weekly Sales.</a:t>
            </a:r>
          </a:p>
          <a:p>
            <a:r>
              <a:rPr lang="en-US" dirty="0"/>
              <a:t>The scatter chart shows how changes in </a:t>
            </a:r>
            <a:r>
              <a:rPr lang="en-US" b="1" dirty="0"/>
              <a:t>average fuel price</a:t>
            </a:r>
            <a:r>
              <a:rPr lang="en-US" dirty="0"/>
              <a:t> correlate with </a:t>
            </a:r>
            <a:r>
              <a:rPr lang="en-US" b="1" dirty="0"/>
              <a:t>weekly sales</a:t>
            </a:r>
            <a:r>
              <a:rPr lang="en-US" dirty="0"/>
              <a:t> across the years.</a:t>
            </a:r>
            <a:endParaRPr lang="en-US" b="1" dirty="0"/>
          </a:p>
          <a:p>
            <a:pPr marL="285750" indent="-285750">
              <a:buFont typeface="Arial" panose="020B0604020202020204" pitchFamily="34" charset="0"/>
              <a:buChar char="•"/>
            </a:pPr>
            <a:r>
              <a:rPr lang="en-US" b="1" dirty="0"/>
              <a:t> </a:t>
            </a:r>
            <a:r>
              <a:rPr lang="en-US" dirty="0"/>
              <a:t>When </a:t>
            </a:r>
            <a:r>
              <a:rPr lang="en-US" b="1" dirty="0"/>
              <a:t>fuel prices are higher</a:t>
            </a:r>
            <a:r>
              <a:rPr lang="en-US" dirty="0"/>
              <a:t>, weekly sales tend to </a:t>
            </a:r>
            <a:r>
              <a:rPr lang="en-US" b="1" dirty="0"/>
              <a:t>slightly decrease</a:t>
            </a:r>
            <a:r>
              <a:rPr lang="en-US" dirty="0"/>
              <a:t>.</a:t>
            </a:r>
            <a:endParaRPr lang="en-US" b="1" dirty="0"/>
          </a:p>
          <a:p>
            <a:pPr marL="285750" indent="-285750">
              <a:buFont typeface="Arial" panose="020B0604020202020204" pitchFamily="34" charset="0"/>
              <a:buChar char="•"/>
            </a:pPr>
            <a:r>
              <a:rPr lang="en-US" b="1" dirty="0"/>
              <a:t> </a:t>
            </a:r>
            <a:r>
              <a:rPr lang="en-US" dirty="0"/>
              <a:t>Lower fuel prices indicate </a:t>
            </a:r>
            <a:r>
              <a:rPr lang="en-US" b="1" dirty="0"/>
              <a:t>better affordability</a:t>
            </a:r>
            <a:r>
              <a:rPr lang="en-US" dirty="0"/>
              <a:t> for customers which may help store visits and weekly sales.</a:t>
            </a:r>
          </a:p>
          <a:p>
            <a:pPr marL="285750" indent="-285750">
              <a:buFont typeface="Arial" panose="020B0604020202020204" pitchFamily="34" charset="0"/>
              <a:buChar char="•"/>
            </a:pPr>
            <a:r>
              <a:rPr lang="en-US" dirty="0"/>
              <a:t>As the year progresses (2010 → 2011 → 2012), the position of the points changes slightly, indicating </a:t>
            </a:r>
            <a:r>
              <a:rPr lang="en-US" b="1" dirty="0"/>
              <a:t>annual variation in fuel cost and consumer spending patterns</a:t>
            </a:r>
            <a:r>
              <a:rPr lang="en-US" dirty="0"/>
              <a:t>.</a:t>
            </a:r>
            <a:endParaRPr lang="en-US" b="1" dirty="0"/>
          </a:p>
          <a:p>
            <a:r>
              <a:rPr lang="en-US" sz="1600" b="1" dirty="0"/>
              <a:t>Key Insight:</a:t>
            </a:r>
          </a:p>
          <a:p>
            <a:r>
              <a:rPr lang="en-US" dirty="0"/>
              <a:t>✔ </a:t>
            </a:r>
            <a:r>
              <a:rPr lang="en-US" b="1" dirty="0"/>
              <a:t>Higher fuel prices may reduce customer store visits and impact weekly sales negatively.</a:t>
            </a:r>
          </a:p>
          <a:p>
            <a:endParaRPr lang="en-US" dirty="0"/>
          </a:p>
          <a:p>
            <a:endParaRPr lang="en-IN" sz="1600" b="1" dirty="0"/>
          </a:p>
        </p:txBody>
      </p:sp>
      <p:sp>
        <p:nvSpPr>
          <p:cNvPr id="4" name="Slide Number Placeholder 3">
            <a:extLst>
              <a:ext uri="{FF2B5EF4-FFF2-40B4-BE49-F238E27FC236}">
                <a16:creationId xmlns:a16="http://schemas.microsoft.com/office/drawing/2014/main" id="{ECB1386E-0B49-2135-0822-B4884F5DEDA4}"/>
              </a:ext>
            </a:extLst>
          </p:cNvPr>
          <p:cNvSpPr>
            <a:spLocks noGrp="1"/>
          </p:cNvSpPr>
          <p:nvPr>
            <p:ph type="sldNum" sz="quarter" idx="12"/>
          </p:nvPr>
        </p:nvSpPr>
        <p:spPr/>
        <p:txBody>
          <a:bodyPr/>
          <a:lstStyle/>
          <a:p>
            <a:fld id="{C263D6C4-4840-40CC-AC84-17E24B3B7BDE}" type="slidenum">
              <a:rPr lang="en-US" noProof="0" smtClean="0"/>
              <a:pPr/>
              <a:t>10</a:t>
            </a:fld>
            <a:endParaRPr lang="en-US" noProof="0" dirty="0"/>
          </a:p>
        </p:txBody>
      </p:sp>
      <p:pic>
        <p:nvPicPr>
          <p:cNvPr id="6" name="Picture 5" descr="A graph showing the price of a sales report&#10;&#10;AI-generated content may be incorrect.">
            <a:extLst>
              <a:ext uri="{FF2B5EF4-FFF2-40B4-BE49-F238E27FC236}">
                <a16:creationId xmlns:a16="http://schemas.microsoft.com/office/drawing/2014/main" id="{020017DA-3CCE-C02D-6DCF-55697C984A1A}"/>
              </a:ext>
            </a:extLst>
          </p:cNvPr>
          <p:cNvPicPr>
            <a:picLocks noChangeAspect="1"/>
          </p:cNvPicPr>
          <p:nvPr/>
        </p:nvPicPr>
        <p:blipFill>
          <a:blip r:embed="rId2"/>
          <a:stretch>
            <a:fillRect/>
          </a:stretch>
        </p:blipFill>
        <p:spPr>
          <a:xfrm>
            <a:off x="2392680" y="3784600"/>
            <a:ext cx="6065520" cy="3144520"/>
          </a:xfrm>
          <a:prstGeom prst="rect">
            <a:avLst/>
          </a:prstGeom>
        </p:spPr>
      </p:pic>
    </p:spTree>
    <p:extLst>
      <p:ext uri="{BB962C8B-B14F-4D97-AF65-F5344CB8AC3E}">
        <p14:creationId xmlns:p14="http://schemas.microsoft.com/office/powerpoint/2010/main" val="25884306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C2DF3-BE14-7DD1-751F-5A0BE0D53579}"/>
              </a:ext>
            </a:extLst>
          </p:cNvPr>
          <p:cNvSpPr>
            <a:spLocks noGrp="1"/>
          </p:cNvSpPr>
          <p:nvPr>
            <p:ph type="title"/>
          </p:nvPr>
        </p:nvSpPr>
        <p:spPr>
          <a:xfrm>
            <a:off x="444500" y="542925"/>
            <a:ext cx="11214100" cy="978729"/>
          </a:xfrm>
        </p:spPr>
        <p:txBody>
          <a:bodyPr/>
          <a:lstStyle/>
          <a:p>
            <a:r>
              <a:rPr lang="en-US" dirty="0"/>
              <a:t>External Factors Impacting Weekly Sales (Scatter Chart Analysis)</a:t>
            </a:r>
            <a:endParaRPr lang="en-IN" dirty="0"/>
          </a:p>
        </p:txBody>
      </p:sp>
      <p:sp>
        <p:nvSpPr>
          <p:cNvPr id="3" name="Text Placeholder 2">
            <a:extLst>
              <a:ext uri="{FF2B5EF4-FFF2-40B4-BE49-F238E27FC236}">
                <a16:creationId xmlns:a16="http://schemas.microsoft.com/office/drawing/2014/main" id="{F2078572-5594-86A7-C70B-D2FF93F6B07E}"/>
              </a:ext>
            </a:extLst>
          </p:cNvPr>
          <p:cNvSpPr>
            <a:spLocks noGrp="1"/>
          </p:cNvSpPr>
          <p:nvPr>
            <p:ph type="body" sz="quarter" idx="18"/>
          </p:nvPr>
        </p:nvSpPr>
        <p:spPr>
          <a:xfrm>
            <a:off x="444500" y="1168400"/>
            <a:ext cx="11490960" cy="4815840"/>
          </a:xfrm>
        </p:spPr>
        <p:txBody>
          <a:bodyPr/>
          <a:lstStyle/>
          <a:p>
            <a:r>
              <a:rPr lang="en-US" dirty="0"/>
              <a:t> </a:t>
            </a:r>
          </a:p>
          <a:p>
            <a:endParaRPr lang="en-US" dirty="0"/>
          </a:p>
          <a:p>
            <a:r>
              <a:rPr lang="en-US" sz="1600" dirty="0"/>
              <a:t>Relationship Between Temperature and Weekly Sales</a:t>
            </a:r>
          </a:p>
          <a:p>
            <a:r>
              <a:rPr lang="en-US" sz="1600" b="1" dirty="0"/>
              <a:t> </a:t>
            </a:r>
            <a:r>
              <a:rPr lang="en-US" sz="1600" dirty="0"/>
              <a:t>This scatter chart compares </a:t>
            </a:r>
            <a:r>
              <a:rPr lang="en-US" sz="1600" b="1" dirty="0"/>
              <a:t>average temperature</a:t>
            </a:r>
            <a:r>
              <a:rPr lang="en-US" sz="1600" dirty="0"/>
              <a:t> with </a:t>
            </a:r>
            <a:r>
              <a:rPr lang="en-US" sz="1600" b="1" dirty="0"/>
              <a:t>weekly sales</a:t>
            </a:r>
            <a:r>
              <a:rPr lang="en-US" sz="1600" dirty="0"/>
              <a:t> over the years.</a:t>
            </a:r>
          </a:p>
          <a:p>
            <a:pPr marL="285750" indent="-285750">
              <a:buFont typeface="Arial" panose="020B0604020202020204" pitchFamily="34" charset="0"/>
              <a:buChar char="•"/>
            </a:pPr>
            <a:r>
              <a:rPr lang="en-US" sz="1600" b="1" dirty="0"/>
              <a:t>  </a:t>
            </a:r>
            <a:r>
              <a:rPr lang="en-US" dirty="0"/>
              <a:t>When </a:t>
            </a:r>
            <a:r>
              <a:rPr lang="en-US" b="1" dirty="0"/>
              <a:t>temperature increases</a:t>
            </a:r>
            <a:r>
              <a:rPr lang="en-US" dirty="0"/>
              <a:t>, weekly sales show </a:t>
            </a:r>
            <a:r>
              <a:rPr lang="en-US" b="1" dirty="0"/>
              <a:t>slight variations</a:t>
            </a:r>
            <a:r>
              <a:rPr lang="en-US" dirty="0"/>
              <a:t>, suggesting that sales may decline during very hot weeks.</a:t>
            </a:r>
          </a:p>
          <a:p>
            <a:pPr marL="285750" indent="-285750">
              <a:buFont typeface="Arial" panose="020B0604020202020204" pitchFamily="34" charset="0"/>
              <a:buChar char="•"/>
            </a:pPr>
            <a:r>
              <a:rPr lang="en-US" b="1" dirty="0"/>
              <a:t>  </a:t>
            </a:r>
            <a:r>
              <a:rPr lang="en-US" dirty="0"/>
              <a:t>Cooler weeks generally align with </a:t>
            </a:r>
            <a:r>
              <a:rPr lang="en-US" b="1" dirty="0"/>
              <a:t>higher weekly sales</a:t>
            </a:r>
            <a:r>
              <a:rPr lang="en-US" dirty="0"/>
              <a:t>, likely due to increased customer comfort and movement.</a:t>
            </a:r>
          </a:p>
          <a:p>
            <a:pPr marL="285750" indent="-285750">
              <a:buFont typeface="Arial" panose="020B0604020202020204" pitchFamily="34" charset="0"/>
              <a:buChar char="•"/>
            </a:pPr>
            <a:r>
              <a:rPr lang="en-US" b="1" dirty="0"/>
              <a:t>  </a:t>
            </a:r>
            <a:r>
              <a:rPr lang="en-US" dirty="0"/>
              <a:t>The yearly animation (2010–2012) shows how temperature shifts influence the distribution of sales points.</a:t>
            </a:r>
            <a:endParaRPr lang="en-IN" b="1" dirty="0"/>
          </a:p>
        </p:txBody>
      </p:sp>
      <p:sp>
        <p:nvSpPr>
          <p:cNvPr id="4" name="Slide Number Placeholder 3">
            <a:extLst>
              <a:ext uri="{FF2B5EF4-FFF2-40B4-BE49-F238E27FC236}">
                <a16:creationId xmlns:a16="http://schemas.microsoft.com/office/drawing/2014/main" id="{ECB1386E-0B49-2135-0822-B4884F5DEDA4}"/>
              </a:ext>
            </a:extLst>
          </p:cNvPr>
          <p:cNvSpPr>
            <a:spLocks noGrp="1"/>
          </p:cNvSpPr>
          <p:nvPr>
            <p:ph type="sldNum" sz="quarter" idx="12"/>
          </p:nvPr>
        </p:nvSpPr>
        <p:spPr/>
        <p:txBody>
          <a:bodyPr/>
          <a:lstStyle/>
          <a:p>
            <a:fld id="{C263D6C4-4840-40CC-AC84-17E24B3B7BDE}" type="slidenum">
              <a:rPr lang="en-US" noProof="0" smtClean="0"/>
              <a:pPr/>
              <a:t>11</a:t>
            </a:fld>
            <a:endParaRPr lang="en-US" noProof="0" dirty="0"/>
          </a:p>
        </p:txBody>
      </p:sp>
      <p:pic>
        <p:nvPicPr>
          <p:cNvPr id="7" name="Picture 6" descr="A graph showing the temperature and sum of the week&#10;&#10;AI-generated content may be incorrect.">
            <a:extLst>
              <a:ext uri="{FF2B5EF4-FFF2-40B4-BE49-F238E27FC236}">
                <a16:creationId xmlns:a16="http://schemas.microsoft.com/office/drawing/2014/main" id="{9953144A-E1E9-6C55-F6E3-63D52DAF2709}"/>
              </a:ext>
            </a:extLst>
          </p:cNvPr>
          <p:cNvPicPr>
            <a:picLocks noChangeAspect="1"/>
          </p:cNvPicPr>
          <p:nvPr/>
        </p:nvPicPr>
        <p:blipFill>
          <a:blip r:embed="rId2"/>
          <a:stretch>
            <a:fillRect/>
          </a:stretch>
        </p:blipFill>
        <p:spPr>
          <a:xfrm>
            <a:off x="2813050" y="3390900"/>
            <a:ext cx="5996940" cy="3467100"/>
          </a:xfrm>
          <a:prstGeom prst="rect">
            <a:avLst/>
          </a:prstGeom>
        </p:spPr>
      </p:pic>
    </p:spTree>
    <p:extLst>
      <p:ext uri="{BB962C8B-B14F-4D97-AF65-F5344CB8AC3E}">
        <p14:creationId xmlns:p14="http://schemas.microsoft.com/office/powerpoint/2010/main" val="2790156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2078572-5594-86A7-C70B-D2FF93F6B07E}"/>
              </a:ext>
            </a:extLst>
          </p:cNvPr>
          <p:cNvSpPr>
            <a:spLocks noGrp="1"/>
          </p:cNvSpPr>
          <p:nvPr>
            <p:ph type="body" sz="quarter" idx="18"/>
          </p:nvPr>
        </p:nvSpPr>
        <p:spPr>
          <a:xfrm>
            <a:off x="444500" y="1168400"/>
            <a:ext cx="11490960" cy="4815840"/>
          </a:xfrm>
        </p:spPr>
        <p:txBody>
          <a:bodyPr/>
          <a:lstStyle/>
          <a:p>
            <a:r>
              <a:rPr lang="en-US" dirty="0"/>
              <a:t> </a:t>
            </a:r>
          </a:p>
          <a:p>
            <a:r>
              <a:rPr lang="en-US" sz="1600" b="1" dirty="0"/>
              <a:t> Description:</a:t>
            </a:r>
          </a:p>
          <a:p>
            <a:pPr marL="285750" indent="-285750">
              <a:buFont typeface="Arial" panose="020B0604020202020204" pitchFamily="34" charset="0"/>
              <a:buChar char="•"/>
            </a:pPr>
            <a:r>
              <a:rPr lang="en-US" dirty="0"/>
              <a:t> This slicer provides an interactive way to filter the dashboard by different attributes such as Store, Date, Year, Month, Holiday Flag, Temperature, Fuel Price, CPI, and Unemployment. Selecting any of these options instantly updates all charts, allowing the user to analyze specific stores, compare years, or focus on key economic factors.</a:t>
            </a:r>
          </a:p>
          <a:p>
            <a:endParaRPr lang="en-US" dirty="0"/>
          </a:p>
          <a:p>
            <a:r>
              <a:rPr lang="en-US" dirty="0"/>
              <a:t> </a:t>
            </a:r>
            <a:r>
              <a:rPr lang="en-US" sz="1600" b="1" dirty="0"/>
              <a:t>Key Insights:</a:t>
            </a:r>
          </a:p>
          <a:p>
            <a:pPr>
              <a:buFont typeface="Arial" panose="020B0604020202020204" pitchFamily="34" charset="0"/>
              <a:buChar char="•"/>
            </a:pPr>
            <a:r>
              <a:rPr lang="en-US" dirty="0"/>
              <a:t>  Allows quick comparison of different stores</a:t>
            </a:r>
          </a:p>
          <a:p>
            <a:pPr>
              <a:buFont typeface="Arial" panose="020B0604020202020204" pitchFamily="34" charset="0"/>
              <a:buChar char="•"/>
            </a:pPr>
            <a:r>
              <a:rPr lang="en-US" dirty="0"/>
              <a:t>  Helps analyze specific months or years</a:t>
            </a:r>
          </a:p>
          <a:p>
            <a:pPr>
              <a:buFont typeface="Arial" panose="020B0604020202020204" pitchFamily="34" charset="0"/>
              <a:buChar char="•"/>
            </a:pPr>
            <a:r>
              <a:rPr lang="en-US" dirty="0"/>
              <a:t>  Supports holiday vs non-holiday sales analysis</a:t>
            </a:r>
          </a:p>
          <a:p>
            <a:endParaRPr lang="en-US" dirty="0"/>
          </a:p>
        </p:txBody>
      </p:sp>
      <p:sp>
        <p:nvSpPr>
          <p:cNvPr id="4" name="Slide Number Placeholder 3">
            <a:extLst>
              <a:ext uri="{FF2B5EF4-FFF2-40B4-BE49-F238E27FC236}">
                <a16:creationId xmlns:a16="http://schemas.microsoft.com/office/drawing/2014/main" id="{ECB1386E-0B49-2135-0822-B4884F5DEDA4}"/>
              </a:ext>
            </a:extLst>
          </p:cNvPr>
          <p:cNvSpPr>
            <a:spLocks noGrp="1"/>
          </p:cNvSpPr>
          <p:nvPr>
            <p:ph type="sldNum" sz="quarter" idx="12"/>
          </p:nvPr>
        </p:nvSpPr>
        <p:spPr/>
        <p:txBody>
          <a:bodyPr/>
          <a:lstStyle/>
          <a:p>
            <a:fld id="{C263D6C4-4840-40CC-AC84-17E24B3B7BDE}" type="slidenum">
              <a:rPr lang="en-US" noProof="0" smtClean="0"/>
              <a:pPr/>
              <a:t>12</a:t>
            </a:fld>
            <a:endParaRPr lang="en-US" noProof="0" dirty="0"/>
          </a:p>
        </p:txBody>
      </p:sp>
      <p:sp>
        <p:nvSpPr>
          <p:cNvPr id="2" name="Title 1">
            <a:extLst>
              <a:ext uri="{FF2B5EF4-FFF2-40B4-BE49-F238E27FC236}">
                <a16:creationId xmlns:a16="http://schemas.microsoft.com/office/drawing/2014/main" id="{EDAC2DF3-BE14-7DD1-751F-5A0BE0D53579}"/>
              </a:ext>
            </a:extLst>
          </p:cNvPr>
          <p:cNvSpPr>
            <a:spLocks noGrp="1"/>
          </p:cNvSpPr>
          <p:nvPr>
            <p:ph type="title"/>
          </p:nvPr>
        </p:nvSpPr>
        <p:spPr>
          <a:xfrm>
            <a:off x="444500" y="542925"/>
            <a:ext cx="11214100" cy="535531"/>
          </a:xfrm>
        </p:spPr>
        <p:txBody>
          <a:bodyPr/>
          <a:lstStyle/>
          <a:p>
            <a:r>
              <a:rPr lang="en-IN" dirty="0"/>
              <a:t>Interactive Slicer for Dynamic Filtering</a:t>
            </a:r>
          </a:p>
        </p:txBody>
      </p:sp>
      <p:pic>
        <p:nvPicPr>
          <p:cNvPr id="6" name="Picture 5" descr="A screenshot of a survey&#10;&#10;AI-generated content may be incorrect.">
            <a:extLst>
              <a:ext uri="{FF2B5EF4-FFF2-40B4-BE49-F238E27FC236}">
                <a16:creationId xmlns:a16="http://schemas.microsoft.com/office/drawing/2014/main" id="{F3CAE4A1-B6EE-1D5F-44D0-57A998E549C8}"/>
              </a:ext>
            </a:extLst>
          </p:cNvPr>
          <p:cNvPicPr>
            <a:picLocks noChangeAspect="1"/>
          </p:cNvPicPr>
          <p:nvPr/>
        </p:nvPicPr>
        <p:blipFill>
          <a:blip r:embed="rId2"/>
          <a:stretch>
            <a:fillRect/>
          </a:stretch>
        </p:blipFill>
        <p:spPr>
          <a:xfrm>
            <a:off x="4932680" y="2975610"/>
            <a:ext cx="4053840" cy="2796540"/>
          </a:xfrm>
          <a:prstGeom prst="rect">
            <a:avLst/>
          </a:prstGeom>
        </p:spPr>
      </p:pic>
    </p:spTree>
    <p:extLst>
      <p:ext uri="{BB962C8B-B14F-4D97-AF65-F5344CB8AC3E}">
        <p14:creationId xmlns:p14="http://schemas.microsoft.com/office/powerpoint/2010/main" val="993528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1F493C9-FD61-6945-3574-BB94145D83FD}"/>
              </a:ext>
            </a:extLst>
          </p:cNvPr>
          <p:cNvSpPr>
            <a:spLocks noGrp="1"/>
          </p:cNvSpPr>
          <p:nvPr>
            <p:ph type="title"/>
          </p:nvPr>
        </p:nvSpPr>
        <p:spPr/>
        <p:txBody>
          <a:bodyPr/>
          <a:lstStyle/>
          <a:p>
            <a:r>
              <a:rPr lang="en-US" dirty="0"/>
              <a:t>Conclusion:</a:t>
            </a:r>
            <a:endParaRPr lang="en-IN" dirty="0"/>
          </a:p>
        </p:txBody>
      </p:sp>
      <p:sp>
        <p:nvSpPr>
          <p:cNvPr id="4" name="Text Placeholder 3">
            <a:extLst>
              <a:ext uri="{FF2B5EF4-FFF2-40B4-BE49-F238E27FC236}">
                <a16:creationId xmlns:a16="http://schemas.microsoft.com/office/drawing/2014/main" id="{1357C175-DF08-634F-138F-A61B81C600CD}"/>
              </a:ext>
            </a:extLst>
          </p:cNvPr>
          <p:cNvSpPr>
            <a:spLocks noGrp="1"/>
          </p:cNvSpPr>
          <p:nvPr>
            <p:ph type="body" sz="quarter" idx="13"/>
          </p:nvPr>
        </p:nvSpPr>
        <p:spPr/>
        <p:txBody>
          <a:bodyPr>
            <a:normAutofit/>
          </a:bodyPr>
          <a:lstStyle/>
          <a:p>
            <a:pPr algn="l">
              <a:lnSpc>
                <a:spcPct val="100000"/>
              </a:lnSpc>
            </a:pPr>
            <a:r>
              <a:rPr lang="en-US" sz="1400" dirty="0"/>
              <a:t>The analysis of the Walmart sales dataset revealed clear patterns in store performance, seasonal trends, and external economic influences. Sales peaked in 2011 and were strongly affected by holidays, temperature changes, and fuel prices. Store-wise comparison highlighted significant performance differences, helping identify high- and low-performing stores. Economic indicators like CPI and unemployment showed a noticeable impact on customer spending. Overall, the interactive dashboard provides valuable insights that can support data-driven decisions to improve sales strategies and operational planning.</a:t>
            </a:r>
            <a:endParaRPr lang="en-IN" sz="1400" dirty="0"/>
          </a:p>
        </p:txBody>
      </p:sp>
    </p:spTree>
    <p:extLst>
      <p:ext uri="{BB962C8B-B14F-4D97-AF65-F5344CB8AC3E}">
        <p14:creationId xmlns:p14="http://schemas.microsoft.com/office/powerpoint/2010/main" val="9435078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Thank You </a:t>
            </a:r>
            <a:endParaRPr lang="en-GB" dirty="0"/>
          </a:p>
        </p:txBody>
      </p:sp>
    </p:spTree>
    <p:extLst>
      <p:ext uri="{BB962C8B-B14F-4D97-AF65-F5344CB8AC3E}">
        <p14:creationId xmlns:p14="http://schemas.microsoft.com/office/powerpoint/2010/main" val="429771863"/>
      </p:ext>
    </p:extLst>
  </p:cSld>
  <p:clrMapOvr>
    <a:masterClrMapping/>
  </p:clrMapOvr>
  <p:transition spd="slow">
    <p:wipe/>
  </p:transition>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2.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151</TotalTime>
  <Words>883</Words>
  <Application>Microsoft Office PowerPoint</Application>
  <PresentationFormat>Widescreen</PresentationFormat>
  <Paragraphs>110</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Trade Gothic LT Pro</vt:lpstr>
      <vt:lpstr>Trebuchet MS</vt:lpstr>
      <vt:lpstr>Office Theme</vt:lpstr>
      <vt:lpstr>Walmart Sales Dashboard – Kaggle Dataset</vt:lpstr>
      <vt:lpstr>Dataset Overview</vt:lpstr>
      <vt:lpstr>Project Objective &amp; Key Metrics</vt:lpstr>
      <vt:lpstr>PowerPoint Presentation</vt:lpstr>
      <vt:lpstr> Sales Trend Analysis</vt:lpstr>
      <vt:lpstr> Sales Trend Analysis</vt:lpstr>
      <vt:lpstr>Donut Chart – Average Weekly Sales by Holiday Flag</vt:lpstr>
      <vt:lpstr>Cluster Column Chart – Total Weekly Sales by Store</vt:lpstr>
      <vt:lpstr>Consumer Price Index (CPI) Trend Analysis (2010–2012)</vt:lpstr>
      <vt:lpstr>External Factors Impacting Weekly Sales (Scatter Chart Analysis)</vt:lpstr>
      <vt:lpstr>External Factors Impacting Weekly Sales (Scatter Chart Analysis)</vt:lpstr>
      <vt:lpstr>Interactive Slicer for Dynamic Filtering</vt:lpstr>
      <vt:lpstr>Conclusion: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sai kiran</dc:creator>
  <cp:lastModifiedBy>sai kiran</cp:lastModifiedBy>
  <cp:revision>1</cp:revision>
  <dcterms:created xsi:type="dcterms:W3CDTF">2025-11-19T12:14:47Z</dcterms:created>
  <dcterms:modified xsi:type="dcterms:W3CDTF">2025-11-19T15:05:39Z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